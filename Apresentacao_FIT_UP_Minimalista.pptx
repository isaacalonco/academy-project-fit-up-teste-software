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85800"/>
            <a:ext cx="3108960" cy="347472"/>
          </a:xfrm>
          <a:prstGeom prst="roundRect">
            <a:avLst>
              <a:gd name="adj" fmla="val 39474"/>
            </a:avLst>
          </a:prstGeom>
          <a:solidFill>
            <a:srgbClr val="121D33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8580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N1 – AT1  |  TESTE DE SOFTWARE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FIT UP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749808" y="2194560"/>
            <a:ext cx="1645920" cy="457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377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Gestão de Academia &amp; Estratégia de Testes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3154680"/>
            <a:ext cx="5669280" cy="1371600"/>
          </a:xfrm>
          <a:prstGeom prst="roundRect">
            <a:avLst>
              <a:gd name="adj" fmla="val 8000"/>
            </a:avLst>
          </a:prstGeom>
          <a:solidFill>
            <a:srgbClr val="121D33"/>
          </a:solidFill>
          <a:ln w="12700">
            <a:solidFill>
              <a:srgbClr val="1D2D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333756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EQUIPE DO PROJETO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60120" y="365760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Gustavo Júnio   • Isaac Alonço   • Raphael Gondim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Hugo Oliveira   • Paulo Vitor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75120" y="3154680"/>
            <a:ext cx="4389120" cy="1371600"/>
          </a:xfrm>
          <a:prstGeom prst="roundRect">
            <a:avLst>
              <a:gd name="adj" fmla="val 8000"/>
            </a:avLst>
          </a:prstGeom>
          <a:solidFill>
            <a:srgbClr val="121D33"/>
          </a:solidFill>
          <a:ln w="12700">
            <a:solidFill>
              <a:srgbClr val="1D2D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03720" y="33375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2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PROFESSOR &amp; INSTITUIÇÃO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903720" y="365760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Prof. Samuel Novais Moura Junior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Universidade Católica de Brasília (UCB)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Brasília - DF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VISÃO GERAL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Sistema FIT UP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Plataforma web para controle operacional de academias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47091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FIT UP · Teste de Software · Universidade Católica de Brasília · 2026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3337560" cy="2971800"/>
          </a:xfrm>
          <a:prstGeom prst="roundRect">
            <a:avLst>
              <a:gd name="adj" fmla="val 3692"/>
            </a:avLst>
          </a:prstGeom>
          <a:solidFill>
            <a:srgbClr val="121D33"/>
          </a:solidFill>
          <a:ln w="12700">
            <a:solidFill>
              <a:srgbClr val="1D2D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783080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CADASTRO &amp; SAÚDE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0120" y="205740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Alunos &amp; Avaliação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514600"/>
            <a:ext cx="2880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Cadastro de alunos e dados pessoais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Validação de CPF e e-mail único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Cálculo automatizado de IMC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Classificação corporal (4 faixas)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51960" y="1554480"/>
            <a:ext cx="3337560" cy="2971800"/>
          </a:xfrm>
          <a:prstGeom prst="roundRect">
            <a:avLst>
              <a:gd name="adj" fmla="val 3692"/>
            </a:avLst>
          </a:prstGeom>
          <a:solidFill>
            <a:srgbClr val="121D33"/>
          </a:solidFill>
          <a:ln w="12700">
            <a:solidFill>
              <a:srgbClr val="1D2D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783080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2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SERVIÇOS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480560" y="205740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Planos &amp; Matrículas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80560" y="2514600"/>
            <a:ext cx="2880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Planos Mensal, Trimestral e Anual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Gestão de instrutores responsáveis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Vínculo de matrícula do aluno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Catálogo de modalidades esportivas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72400" y="1554480"/>
            <a:ext cx="3337560" cy="2971800"/>
          </a:xfrm>
          <a:prstGeom prst="roundRect">
            <a:avLst>
              <a:gd name="adj" fmla="val 3692"/>
            </a:avLst>
          </a:prstGeom>
          <a:solidFill>
            <a:srgbClr val="121D33"/>
          </a:solidFill>
          <a:ln w="12700">
            <a:solidFill>
              <a:srgbClr val="1D2D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01000" y="1783080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OPERAÇÃO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01000" y="205740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Financeiro &amp; Acesso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001000" y="2514600"/>
            <a:ext cx="2880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Controle de pagamentos de mensalidade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Status de quitação (Pago / Pendente)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Login seguro para recepcionistas e gestão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Interface moderna e intuitiva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REQUISITO DE NEGÓCIO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História de Usuário &amp; Critérios (BDD)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Definição formal com foco na avaliação física do aluno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47091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FIT UP · Teste de Software · Universidade Católica de Brasília · 2026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4937760" cy="2971800"/>
          </a:xfrm>
          <a:prstGeom prst="roundRect">
            <a:avLst>
              <a:gd name="adj" fmla="val 3692"/>
            </a:avLst>
          </a:prstGeom>
          <a:solidFill>
            <a:srgbClr val="121D33"/>
          </a:solidFill>
          <a:ln w="12700">
            <a:solidFill>
              <a:srgbClr val="1D2D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8308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HISTÓRIA DE USUÁRIO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05840" y="20116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Avaliação Física Automatizada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2560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20240" y="256032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Instrutor da Academia FIT UP,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05840" y="3154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20240" y="315468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 o sistema calcule o IMC e classifique o estado nutricional do aluno automaticamente,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005840" y="3749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920240" y="374904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prescrever o treino e a dieta corretos sem erros de cálculo manual.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0" y="1554480"/>
            <a:ext cx="5120640" cy="2971800"/>
          </a:xfrm>
          <a:prstGeom prst="roundRect">
            <a:avLst>
              <a:gd name="adj" fmla="val 3692"/>
            </a:avLst>
          </a:prstGeom>
          <a:solidFill>
            <a:srgbClr val="121D33"/>
          </a:solidFill>
          <a:ln w="12700">
            <a:solidFill>
              <a:srgbClr val="1D2D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7830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2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CRITÉRIO DE ACEITAÇÃO (BDD)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21792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Cenário: Cálculo de IMC e Classificação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217920" y="25603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2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DADO QUE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406640" y="25603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 aluno possui peso 80 kg e altura 2.00 m;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217920" y="303580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QUANDO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406640" y="303580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sistema registrar os dados da avaliação física;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217920" y="351129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ENTÃO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406640" y="3511296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IMC calculado deve ser exatamente 20.0;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217920" y="398678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406640" y="3986784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classificação deve indicar 'Peso normal'.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ESTRATÉGIA EM CAMADAS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Pirâmide de Testes: 4 Níveis &amp; V&amp;V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Classificação de Verificação e Validação para cada ferramenta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47091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FIT UP · Teste de Software · Universidade Católica de Brasília · 2026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2468880" cy="2971800"/>
          </a:xfrm>
          <a:prstGeom prst="roundRect">
            <a:avLst>
              <a:gd name="adj" fmla="val 4444"/>
            </a:avLst>
          </a:prstGeom>
          <a:solidFill>
            <a:srgbClr val="121D33"/>
          </a:solidFill>
          <a:ln w="12700">
            <a:solidFill>
              <a:srgbClr val="1D2D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1907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· UNITÁRIO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914400" y="1965960"/>
            <a:ext cx="1371600" cy="256032"/>
          </a:xfrm>
          <a:prstGeom prst="roundRect">
            <a:avLst>
              <a:gd name="adj" fmla="val 28571"/>
            </a:avLst>
          </a:prstGeom>
          <a:solidFill>
            <a:srgbClr val="182B48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9659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VERIFICAÇÃO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14400" y="23317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JUnit 5 + AssertJ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6517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Tipo: Caixa Branca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14400" y="292608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 a exatidão das regras matemáticas no código Java (Fórmula de IMC, validação de CPF e faixas nutricionais).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37560" y="1554480"/>
            <a:ext cx="2468880" cy="2971800"/>
          </a:xfrm>
          <a:prstGeom prst="roundRect">
            <a:avLst>
              <a:gd name="adj" fmla="val 4444"/>
            </a:avLst>
          </a:prstGeom>
          <a:solidFill>
            <a:srgbClr val="121D33"/>
          </a:solidFill>
          <a:ln w="12700">
            <a:solidFill>
              <a:srgbClr val="1D2D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171907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· API REST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520440" y="1965960"/>
            <a:ext cx="1371600" cy="256032"/>
          </a:xfrm>
          <a:prstGeom prst="roundRect">
            <a:avLst>
              <a:gd name="adj" fmla="val 28571"/>
            </a:avLst>
          </a:prstGeom>
          <a:solidFill>
            <a:srgbClr val="182B48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0440" y="19659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VERIFICAÇÃO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520440" y="23317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Postman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20440" y="26517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Tipo: Caixa Preta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520440" y="292608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 os contratos da API em produção (Status HTTP 200, payloads JSON, login e token de autenticação).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0" y="1554480"/>
            <a:ext cx="2468880" cy="2971800"/>
          </a:xfrm>
          <a:prstGeom prst="roundRect">
            <a:avLst>
              <a:gd name="adj" fmla="val 4444"/>
            </a:avLst>
          </a:prstGeom>
          <a:solidFill>
            <a:srgbClr val="121D33"/>
          </a:solidFill>
          <a:ln w="12700">
            <a:solidFill>
              <a:srgbClr val="1D2D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171907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· E2E INTERFACE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26480" y="1965960"/>
            <a:ext cx="1371600" cy="256032"/>
          </a:xfrm>
          <a:prstGeom prst="roundRect">
            <a:avLst>
              <a:gd name="adj" fmla="val 28571"/>
            </a:avLst>
          </a:prstGeom>
          <a:solidFill>
            <a:srgbClr val="182B48"/>
          </a:solidFill>
          <a:ln w="12700">
            <a:solidFill>
              <a:srgbClr val="00D2B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19659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2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VALIDAÇÃO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126480" y="23317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Playwright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26480" y="26517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Tipo: Caixa Preta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126480" y="292608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 a experiência do usuário navegando no sistema real no Chromium, com gravação de evidência em vídeo.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549640" y="1554480"/>
            <a:ext cx="2468880" cy="2971800"/>
          </a:xfrm>
          <a:prstGeom prst="roundRect">
            <a:avLst>
              <a:gd name="adj" fmla="val 4444"/>
            </a:avLst>
          </a:prstGeom>
          <a:solidFill>
            <a:srgbClr val="121D33"/>
          </a:solidFill>
          <a:ln w="12700">
            <a:solidFill>
              <a:srgbClr val="1D2D4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32520" y="171907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· CARGA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732520" y="1965960"/>
            <a:ext cx="1371600" cy="256032"/>
          </a:xfrm>
          <a:prstGeom prst="roundRect">
            <a:avLst>
              <a:gd name="adj" fmla="val 28571"/>
            </a:avLst>
          </a:prstGeom>
          <a:solidFill>
            <a:srgbClr val="182B4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32520" y="19659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NÃO-FUNCIONAL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732520" y="23317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Apache JMeter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732520" y="26517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Tipo: Resiliência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732520" y="292608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Simulação de 100 requisições simultâneas na nuvem Railway, avaliando estabilidade sob concorrência.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TEORIA DA AULA 05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V&amp;V na Prática: Caçando o Defeito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Diferenciação clara entre Verificação e Validação no FIT UP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47091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FIT UP · Teste de Software · Universidade Católica de Brasília · 2026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4937760" cy="2971800"/>
          </a:xfrm>
          <a:prstGeom prst="roundRect">
            <a:avLst>
              <a:gd name="adj" fmla="val 3692"/>
            </a:avLst>
          </a:prstGeom>
          <a:solidFill>
            <a:srgbClr val="121D33"/>
          </a:solidFill>
          <a:ln w="12700">
            <a:solidFill>
              <a:srgbClr val="1D2D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8308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VERIFICAÇÃO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20116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'Construindo o produto corretamente?'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423160"/>
            <a:ext cx="43891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Foco: Conformidade com o código e a especificação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Ambiente: JUnit 5 (Caixa Branca no Backend)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Cenário de Teste: IMC com altura zero ou peso inválido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Resultado: Se o código dividir por zero ou errar a fórmula, o teste FALHA imediatamente no IntelliJ, barrando o defeito antes de ir ao 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1554480"/>
            <a:ext cx="5120640" cy="2971800"/>
          </a:xfrm>
          <a:prstGeom prst="roundRect">
            <a:avLst>
              <a:gd name="adj" fmla="val 3692"/>
            </a:avLst>
          </a:prstGeom>
          <a:solidFill>
            <a:srgbClr val="121D33"/>
          </a:solidFill>
          <a:ln w="12700">
            <a:solidFill>
              <a:srgbClr val="1D2D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7830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2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VALIDAÇÃO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17920" y="2011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'Construindo o produto certo?'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17920" y="2423160"/>
            <a:ext cx="4572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Foco: Atendimento às necessidades reais do usuário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Ambiente: Playwright (Caixa Preta no Navegador)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Cenário de Teste: Fluxo completo de matrícula do aluno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Resultado: Se o sistema salvar o aluno mas a tela não atualizar o status de pagamento, o produto NÃO ATENDE ao gestor; a validação visual reprova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AUTOMAÇÃO NO NAVEGADOR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Teste E2E: Jornada do Usuário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Execução automatizada com Playwright gerando vídeo em Chromium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47091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FIT UP · Teste de Software · Universidade Católica de Brasília · 2026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965960" cy="1234440"/>
          </a:xfrm>
          <a:prstGeom prst="roundRect">
            <a:avLst>
              <a:gd name="adj" fmla="val 8889"/>
            </a:avLst>
          </a:prstGeom>
          <a:solidFill>
            <a:srgbClr val="121D33"/>
          </a:solidFill>
          <a:ln w="12700">
            <a:solidFill>
              <a:srgbClr val="1D2D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7373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01168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28600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Acesso administrativo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651760" y="19659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834640" y="1645920"/>
            <a:ext cx="1965960" cy="1234440"/>
          </a:xfrm>
          <a:prstGeom prst="roundRect">
            <a:avLst>
              <a:gd name="adj" fmla="val 8889"/>
            </a:avLst>
          </a:prstGeom>
          <a:solidFill>
            <a:srgbClr val="121D33"/>
          </a:solidFill>
          <a:ln w="12700">
            <a:solidFill>
              <a:srgbClr val="1D2D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71800" y="17373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971800" y="201168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Alunos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71800" y="228600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Cadastro e CPF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54880" y="19659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937760" y="1645920"/>
            <a:ext cx="1965960" cy="1234440"/>
          </a:xfrm>
          <a:prstGeom prst="roundRect">
            <a:avLst>
              <a:gd name="adj" fmla="val 8889"/>
            </a:avLst>
          </a:prstGeom>
          <a:solidFill>
            <a:srgbClr val="121D33"/>
          </a:solidFill>
          <a:ln w="12700">
            <a:solidFill>
              <a:srgbClr val="1D2D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17373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74920" y="201168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Avaliação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74920" y="228600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Cálculo do IMC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858000" y="19659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040880" y="1645920"/>
            <a:ext cx="1965960" cy="1234440"/>
          </a:xfrm>
          <a:prstGeom prst="roundRect">
            <a:avLst>
              <a:gd name="adj" fmla="val 8889"/>
            </a:avLst>
          </a:prstGeom>
          <a:solidFill>
            <a:srgbClr val="121D33"/>
          </a:solidFill>
          <a:ln w="12700">
            <a:solidFill>
              <a:srgbClr val="1D2D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17373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78040" y="201168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Planos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178040" y="228600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Seleção do pacote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961120" y="19659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144000" y="1645920"/>
            <a:ext cx="1965960" cy="1234440"/>
          </a:xfrm>
          <a:prstGeom prst="roundRect">
            <a:avLst>
              <a:gd name="adj" fmla="val 8889"/>
            </a:avLst>
          </a:prstGeom>
          <a:solidFill>
            <a:srgbClr val="121D33"/>
          </a:solidFill>
          <a:ln w="12700">
            <a:solidFill>
              <a:srgbClr val="1D2D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81160" y="17373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281160" y="201168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Pagamento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281160" y="228600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Baixa da mensalidade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31520" y="3154680"/>
            <a:ext cx="10378440" cy="1371600"/>
          </a:xfrm>
          <a:prstGeom prst="roundRect">
            <a:avLst>
              <a:gd name="adj" fmla="val 8000"/>
            </a:avLst>
          </a:prstGeom>
          <a:solidFill>
            <a:srgbClr val="121D33"/>
          </a:solidFill>
          <a:ln w="12700">
            <a:solidFill>
              <a:srgbClr val="1D2D4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0120" y="33375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2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RECURSOS DE TESTE IMPLEMENTADOS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60120" y="361188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Autenticação Dinâmica: Sessão e token validados antes de operações restritas.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Geração de CPFs Válidos: Evita conflito com registros prévios no banco de dados.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Evidência em Vídeo: Cada suíte grava um arquivo de vídeo .webm em test-results/ para comprovação.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RESULTADOS CONSOLIDADOS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Métricas da Suíte de Testes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Desempenho aprovado em todos os níveis exigidos no Barema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47091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FIT UP · Teste de Software · Universidade Católica de Brasília · 2026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2468880" cy="1645920"/>
          </a:xfrm>
          <a:prstGeom prst="roundRect">
            <a:avLst>
              <a:gd name="adj" fmla="val 6667"/>
            </a:avLst>
          </a:prstGeom>
          <a:solidFill>
            <a:srgbClr val="121D33"/>
          </a:solidFill>
          <a:ln w="12700">
            <a:solidFill>
              <a:srgbClr val="1D2D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8308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11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Testes Unitários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7432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JUnit 5 + AssertJ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645920"/>
            <a:ext cx="2468880" cy="1645920"/>
          </a:xfrm>
          <a:prstGeom prst="roundRect">
            <a:avLst>
              <a:gd name="adj" fmla="val 6667"/>
            </a:avLst>
          </a:prstGeom>
          <a:solidFill>
            <a:srgbClr val="121D33"/>
          </a:solidFill>
          <a:ln w="12700">
            <a:solidFill>
              <a:srgbClr val="1D2D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78308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D2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429000" y="2423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Endpoints de API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27432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Coleção Postman (100% OK)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0" y="1645920"/>
            <a:ext cx="2468880" cy="1645920"/>
          </a:xfrm>
          <a:prstGeom prst="roundRect">
            <a:avLst>
              <a:gd name="adj" fmla="val 6667"/>
            </a:avLst>
          </a:prstGeom>
          <a:solidFill>
            <a:srgbClr val="121D33"/>
          </a:solidFill>
          <a:ln w="12700">
            <a:solidFill>
              <a:srgbClr val="1D2D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178308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5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035040" y="2423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Cenários E2E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35040" y="27432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Playwright no Chromium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549640" y="1645920"/>
            <a:ext cx="2468880" cy="1645920"/>
          </a:xfrm>
          <a:prstGeom prst="roundRect">
            <a:avLst>
              <a:gd name="adj" fmla="val 6667"/>
            </a:avLst>
          </a:prstGeom>
          <a:solidFill>
            <a:srgbClr val="121D33"/>
          </a:solidFill>
          <a:ln w="12700">
            <a:solidFill>
              <a:srgbClr val="1D2D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41080" y="178308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8641080" y="2423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Reqs de Carga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41080" y="27432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Apache JMeter (0% erro)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3520440"/>
            <a:ext cx="10378440" cy="1005840"/>
          </a:xfrm>
          <a:prstGeom prst="roundRect">
            <a:avLst>
              <a:gd name="adj" fmla="val 10909"/>
            </a:avLst>
          </a:prstGeom>
          <a:solidFill>
            <a:srgbClr val="121D33"/>
          </a:solidFill>
          <a:ln w="12700">
            <a:solidFill>
              <a:srgbClr val="1D2D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365760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AUTOMAÇÃO &amp; COBERTURA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60120" y="393192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Execução automatizada via scripts .bat no Windows. Relatório analítico de cobertura de código gerado pelo plugin JaCoCo (Maven) comprovando a amplitude dos testes.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DISPONIBILIDADE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em Produção &amp; Encerramento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Ambiente online acessível e código versionado no GitHub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47091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FIT UP · Teste de Software · Universidade Católica de Brasília · 2026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4937760" cy="1463040"/>
          </a:xfrm>
          <a:prstGeom prst="roundRect">
            <a:avLst>
              <a:gd name="adj" fmla="val 7500"/>
            </a:avLst>
          </a:prstGeom>
          <a:solidFill>
            <a:srgbClr val="121D33"/>
          </a:solidFill>
          <a:ln w="12700">
            <a:solidFill>
              <a:srgbClr val="1D2D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73736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NA NUVEM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60120" y="19659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Vercel (Produção)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233172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Interface SPA responsiva integrada em tempo real com a API REST.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1554480"/>
            <a:ext cx="4937760" cy="1463040"/>
          </a:xfrm>
          <a:prstGeom prst="roundRect">
            <a:avLst>
              <a:gd name="adj" fmla="val 7500"/>
            </a:avLst>
          </a:prstGeom>
          <a:solidFill>
            <a:srgbClr val="121D33"/>
          </a:solidFill>
          <a:ln w="12700">
            <a:solidFill>
              <a:srgbClr val="1D2D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73736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2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NA NUVEM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0" y="19659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Railway (Docker Container)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0" y="233172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21 + Spring Boot com banco SQLite persistente e SSL ativo.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200400"/>
            <a:ext cx="10378440" cy="1325880"/>
          </a:xfrm>
          <a:prstGeom prst="roundRect">
            <a:avLst>
              <a:gd name="adj" fmla="val 8276"/>
            </a:avLst>
          </a:prstGeom>
          <a:solidFill>
            <a:srgbClr val="121D33"/>
          </a:solidFill>
          <a:ln w="12700">
            <a:solidFill>
              <a:srgbClr val="1D2D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3832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REPOSITÓRIO NO GITHUB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60120" y="36576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github.com/isaacalonco/ACADEMY-PROJECT-FIT-UP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0120" y="40233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fonte, automações, casos de teste e planos de carga.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046720" y="34747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DÚVIDAS?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Universidade Católica de Brasília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 UP - Apresentação de Testes de Software</dc:title>
  <dc:subject>PptxGenJS Presentation</dc:subject>
  <dc:creator>FIT UP Academy Team</dc:creator>
  <cp:lastModifiedBy>FIT UP Academy Team</cp:lastModifiedBy>
  <cp:revision>1</cp:revision>
  <dcterms:created xsi:type="dcterms:W3CDTF">2026-10-08T05:34:25Z</dcterms:created>
  <dcterms:modified xsi:type="dcterms:W3CDTF">2026-10-08T05:34:25Z</dcterms:modified>
</cp:coreProperties>
</file>